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188000"/>
            <a:ext cx="8567999" cy="18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Continuous Sensor Health Monitoring and</a:t>
            </a:r>
          </a:p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Risk/Capability-aware Graded MRM Supervision</a:t>
            </a:r>
          </a:p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for Fail-Safe Operation of Autonomous Vehicles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3456000"/>
            <a:ext cx="828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000" b="1" i="0">
                <a:solidFill>
                  <a:srgbClr val="000000"/>
                </a:solidFill>
                <a:latin typeface="Arial"/>
              </a:rPr>
              <a:t>Taewook 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4392000"/>
            <a:ext cx="8280000" cy="14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1" i="1">
                <a:solidFill>
                  <a:srgbClr val="000000"/>
                </a:solidFill>
                <a:latin typeface="Arial"/>
              </a:rPr>
              <a:t>Sungkyunkwan University</a:t>
            </a:r>
          </a:p>
          <a:p>
            <a:pPr algn="ctr">
              <a:spcAft>
                <a:spcPts val="1000"/>
              </a:spcAft>
            </a:pPr>
            <a:r>
              <a:rPr sz="2600" b="1" i="1">
                <a:solidFill>
                  <a:srgbClr val="000000"/>
                </a:solidFill>
                <a:latin typeface="Arial"/>
              </a:rPr>
              <a:t>Department of Electrical and Computer Engineering</a:t>
            </a:r>
          </a:p>
          <a:p>
            <a:pPr algn="ctr">
              <a:spcAft>
                <a:spcPts val="1000"/>
              </a:spcAft>
            </a:pPr>
            <a:r>
              <a:rPr sz="2400" b="1" i="1">
                <a:solidFill>
                  <a:srgbClr val="000000"/>
                </a:solidFill>
                <a:latin typeface="Arial"/>
              </a:rPr>
              <a:t>Advisor: Prof. Tae Yong Kuc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296000"/>
            <a:ext cx="8496000" cy="50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26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• Background &amp; Problem</a:t>
            </a:r>
          </a:p>
          <a:p>
            <a:pPr algn="l" marL="288000" indent="-288000">
              <a:spcAft>
                <a:spcPts val="126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• Related Work</a:t>
            </a:r>
          </a:p>
          <a:p>
            <a:pPr algn="l" marL="288000" indent="-288000">
              <a:spcAft>
                <a:spcPts val="126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• Proposed System: Health Monitoring &amp; MRM Supervision</a:t>
            </a:r>
          </a:p>
          <a:p>
            <a:pPr algn="l" marL="288000" indent="-288000">
              <a:spcAft>
                <a:spcPts val="126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• Experimental Setup: 1,862-Case Closed Loop</a:t>
            </a:r>
          </a:p>
          <a:p>
            <a:pPr algn="l" marL="288000" indent="-288000">
              <a:spcAft>
                <a:spcPts val="126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• Results: Detection, Encounters, Causal Cap Effect</a:t>
            </a:r>
          </a:p>
          <a:p>
            <a:pPr algn="l" marL="288000" indent="-288000">
              <a:spcAft>
                <a:spcPts val="126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Background &amp;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98000"/>
            <a:ext cx="8496000" cy="328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Level-4 autonomy must reach a minimal risk condition on its own — ISO 26262 FTTI; SOTIF (ISO 21448)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Evaluated stock stack: in-lane stop only; faults unmonitored → 238–275 m blind driving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Design axes: stop now? / how far? / how fast?</a:t>
            </a:r>
          </a:p>
        </p:txBody>
      </p:sp>
      <p:pic>
        <p:nvPicPr>
          <p:cNvPr id="7" name="Picture 6" descr="fig1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418" y="4399200"/>
            <a:ext cx="3643164" cy="1990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368000"/>
            <a:ext cx="8496000" cy="50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17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• Adaptive-MRM studies presuppose the fault state (Xue 2018, Tang 2026)</a:t>
            </a:r>
          </a:p>
          <a:p>
            <a:pPr algn="l" marL="64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– Selection by traffic TTC/THW</a:t>
            </a:r>
          </a:p>
          <a:p>
            <a:pPr algn="l" marL="64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– Validation on representative scenarios</a:t>
            </a:r>
          </a:p>
          <a:p>
            <a:pPr algn="l" marL="288000" indent="-288000">
              <a:spcAft>
                <a:spcPts val="117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• This work: estimate faults online as a continuous health score</a:t>
            </a:r>
          </a:p>
          <a:p>
            <a:pPr algn="l" marL="64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– Graded MRM selection + evacuation speed cap</a:t>
            </a:r>
          </a:p>
          <a:p>
            <a:pPr algn="l" marL="64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– 1,862-case closed loop with verified collision verdicts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98000"/>
            <a:ext cx="8496000" cy="196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Non-intrusive add-on: read-only monitoring, standard interfaces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MOVE (reroute + speed cap) vs DEFER (delegate to stock stop)</a:t>
            </a:r>
          </a:p>
        </p:txBody>
      </p:sp>
      <p:pic>
        <p:nvPicPr>
          <p:cNvPr id="7" name="Picture 6" descr="fig2b_dual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515" y="3081600"/>
            <a:ext cx="6682968" cy="3308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Continuous Health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98000"/>
            <a:ext cx="8496000" cy="289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Freshness · quality · physics scores per sensor at 10 Hz (behavior tree)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8-sector fusion → health = min(perception, localization)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Dual thresholds 0.7 / 0.3 → NORMAL / DEGRADED / CRITICAL</a:t>
            </a:r>
          </a:p>
        </p:txBody>
      </p:sp>
      <p:pic>
        <p:nvPicPr>
          <p:cNvPr id="7" name="Picture 6" descr="fig3_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745" y="4010399"/>
            <a:ext cx="5306508" cy="237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MRM Supervision &amp; Speed 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98000"/>
            <a:ext cx="8496000" cy="289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Refuge by cost: exposure time + traffic-light observability gate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Speed cap 3.0 m/s from d = vτ + v²/2a  (model bound ≈ 3.9 m/s)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Hard fails: evidence-aware fast path decides within 1.5 s</a:t>
            </a:r>
          </a:p>
        </p:txBody>
      </p:sp>
      <p:pic>
        <p:nvPicPr>
          <p:cNvPr id="7" name="Picture 6" descr="tab1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01" y="4010399"/>
            <a:ext cx="8352396" cy="237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98000"/>
            <a:ext cx="8496000" cy="289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CARLA 0.9.16 ↔ Autoware 0.39.0 closed loop (AWCL), Town07, 15 km/h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1,862 valid cases: fault × severity × traffic × method + encounters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Full simulator restart every case — independence guaranteed</a:t>
            </a:r>
          </a:p>
        </p:txBody>
      </p:sp>
      <p:pic>
        <p:nvPicPr>
          <p:cNvPr id="7" name="Picture 6" descr="fig5_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623" y="4010399"/>
            <a:ext cx="5044752" cy="237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  <a:latin typeface="Arial"/>
              </a:rPr>
              <a:t>Fault Model &amp; Verdict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98000"/>
            <a:ext cx="8496000" cy="289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11 physics-based fault types (LiDAR, camera, GNSS, IMU)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Pedestrian collision sensor never fires in CARLA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Dual verdict: ego ledger (RAW-HIT) + physics oracle</a:t>
            </a:r>
          </a:p>
        </p:txBody>
      </p:sp>
      <p:pic>
        <p:nvPicPr>
          <p:cNvPr id="7" name="Picture 6" descr="fig6_fa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319" y="4010399"/>
            <a:ext cx="3807360" cy="237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  <a:latin typeface="Arial"/>
              </a:rPr>
              <a:t>Results: Detection &amp;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98000"/>
            <a:ext cx="8496000" cy="289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Detection 96–100% (19/20 conditions);  0 false alarms / 45 runs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Exposure 238–275 m → 11–58 m;  hard-fail decision ≤ 1.20 s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Health bands separate by severity → tolerate / evacuate / defer</a:t>
            </a:r>
          </a:p>
        </p:txBody>
      </p:sp>
      <p:pic>
        <p:nvPicPr>
          <p:cNvPr id="7" name="Picture 6" descr="fig12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135" y="4010399"/>
            <a:ext cx="3997728" cy="237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  <a:latin typeface="Arial"/>
              </a:rPr>
              <a:t>Results: Avoid/Collide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98000"/>
            <a:ext cx="8496000" cy="289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Boundary: 8–11 m at 4.2 m/s (model 8.8 m);  7–8 m at 3.0 m/s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8 m dart-out: stock 10/10 collide vs settled cruise 8/8 avoid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Transient encounters 2/2 collide → risk lives in the transient</a:t>
            </a:r>
          </a:p>
        </p:txBody>
      </p:sp>
      <p:pic>
        <p:nvPicPr>
          <p:cNvPr id="7" name="Picture 6" descr="fig8_stop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851" y="4010399"/>
            <a:ext cx="2998296" cy="237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Results: Causal Cap Effect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98000"/>
            <a:ext cx="8496000" cy="289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120 pre-registered runs; settlement trigger — cap holds at encounter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8 m paired contrast: discordant 10:0, exact McNemar p = 0.002</a:t>
            </a:r>
          </a:p>
          <a:p>
            <a:pPr algn="l" marL="288000" indent="-288000">
              <a:spcAft>
                <a:spcPts val="108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• Boundary moves inward monotonically: beyond 9 m → about 7 m</a:t>
            </a:r>
          </a:p>
        </p:txBody>
      </p:sp>
      <p:pic>
        <p:nvPicPr>
          <p:cNvPr id="7" name="Picture 6" descr="fig13_speedd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785" y="4010399"/>
            <a:ext cx="5782428" cy="237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62000"/>
            <a:ext cx="8784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9432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6462000"/>
            <a:ext cx="8784000" cy="28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1999" y="6570000"/>
            <a:ext cx="10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368000"/>
            <a:ext cx="8496000" cy="50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 marL="288000" indent="-288000">
              <a:spcAft>
                <a:spcPts val="1125"/>
              </a:spcAft>
            </a:pPr>
            <a:r>
              <a:rPr sz="2500" b="1" i="0">
                <a:solidFill>
                  <a:srgbClr val="000000"/>
                </a:solidFill>
                <a:latin typeface="Arial"/>
              </a:rPr>
              <a:t>• Graded fault response — health score + MRM supervision, 1,862 cases</a:t>
            </a:r>
          </a:p>
          <a:p>
            <a:pPr algn="l" marL="288000" indent="-288000">
              <a:spcAft>
                <a:spcPts val="1125"/>
              </a:spcAft>
            </a:pPr>
            <a:r>
              <a:rPr sz="2500" b="1" i="0">
                <a:solidFill>
                  <a:srgbClr val="000000"/>
                </a:solidFill>
                <a:latin typeface="Arial"/>
              </a:rPr>
              <a:t>• Stop vs evacuate: a temporal trade-off; risk lives in the transient</a:t>
            </a:r>
          </a:p>
          <a:p>
            <a:pPr algn="l" marL="288000" indent="-288000">
              <a:spcAft>
                <a:spcPts val="1125"/>
              </a:spcAft>
            </a:pPr>
            <a:r>
              <a:rPr sz="2500" b="1" i="0">
                <a:solidFill>
                  <a:srgbClr val="000000"/>
                </a:solidFill>
                <a:latin typeface="Arial"/>
              </a:rPr>
              <a:t>• Settled low speed shifts the boundary (10:0, p = 0.002)</a:t>
            </a:r>
          </a:p>
          <a:p>
            <a:pPr algn="l" marL="288000" indent="-288000">
              <a:spcAft>
                <a:spcPts val="1125"/>
              </a:spcAft>
            </a:pPr>
            <a:r>
              <a:rPr sz="2500" b="1" i="0">
                <a:solidFill>
                  <a:srgbClr val="000000"/>
                </a:solidFill>
                <a:latin typeface="Arial"/>
              </a:rPr>
              <a:t>• Reusable verdict methodology: ledger + physics oracle</a:t>
            </a:r>
          </a:p>
          <a:p>
            <a:pPr algn="l" marL="288000" indent="-288000">
              <a:spcAft>
                <a:spcPts val="1125"/>
              </a:spcAft>
            </a:pPr>
            <a:r>
              <a:rPr sz="2500" b="1" i="0">
                <a:solidFill>
                  <a:srgbClr val="000000"/>
                </a:solidFill>
                <a:latin typeface="Arial"/>
              </a:rPr>
              <a:t>• Future: high-speed ODD, adaptive baselines, real vehicle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